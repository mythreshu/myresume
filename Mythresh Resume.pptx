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904" r:id="rId4"/>
    <p:sldMasterId id="2147483957"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5F512-2D3C-4ACC-83D2-3D29A0B5BCCE}" v="4" dt="2022-07-15T09:26:37.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1" autoAdjust="0"/>
    <p:restoredTop sz="93792" autoAdjust="0"/>
  </p:normalViewPr>
  <p:slideViewPr>
    <p:cSldViewPr>
      <p:cViewPr varScale="1">
        <p:scale>
          <a:sx n="62" d="100"/>
          <a:sy n="62" d="100"/>
        </p:scale>
        <p:origin x="792" y="56"/>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27/07/2022</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27/07/2022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dirty="0"/>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52"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21213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076"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84265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100"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428841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24" name="think-cell Slide" r:id="rId9" imgW="360" imgH="360" progId="">
                  <p:embed/>
                </p:oleObj>
              </mc:Choice>
              <mc:Fallback>
                <p:oleObj name="think-cell Slide" r:id="rId9" imgW="360" imgH="36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10904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69412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6148"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46966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7172" name="think-cell Slide" r:id="rId4" imgW="360" imgH="360" progId="">
                  <p:embed/>
                </p:oleObj>
              </mc:Choice>
              <mc:Fallback>
                <p:oleObj name="think-cell Slide" r:id="rId4" imgW="360" imgH="36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041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bwMode="gray">
          <a:xfrm>
            <a:off x="321579"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charset="0"/>
              </a:defRPr>
            </a:lvl1pPr>
          </a:lstStyle>
          <a:p>
            <a:fld id="{425404F2-BE9A-4460-8815-8F645183555F}" type="datetimeFigureOut">
              <a:rPr lang="en-US" smtClean="0"/>
              <a:pPr/>
              <a:t>7/27/2022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31651802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2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11711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849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61533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8196" name="think-cell Slide" r:id="rId4" imgW="270" imgH="270" progId="TCLayout.ActiveDocument.1">
                  <p:embed/>
                </p:oleObj>
              </mc:Choice>
              <mc:Fallback>
                <p:oleObj name="think-cell Slide" r:id="rId4" imgW="270" imgH="27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304864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9220"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751912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0244"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45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1260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1131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1387373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30326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2631225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2292" name="think-cell Slide" r:id="rId4" imgW="270" imgH="270" progId="TCLayout.ActiveDocument.1">
                  <p:embed/>
                </p:oleObj>
              </mc:Choice>
              <mc:Fallback>
                <p:oleObj name="think-cell Slide" r:id="rId4" imgW="270" imgH="27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1305334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3316"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014322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030721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dirty="0">
                <a:solidFill>
                  <a:schemeClr val="bg1"/>
                </a:solidFill>
                <a:latin typeface="Arial"/>
                <a:cs typeface="Arial"/>
              </a:rPr>
              <a:t>Rightshore</a:t>
            </a:r>
            <a:r>
              <a:rPr lang="en-US" sz="800" baseline="30000" noProof="0" dirty="0">
                <a:solidFill>
                  <a:schemeClr val="bg1"/>
                </a:solidFill>
                <a:latin typeface="Arial"/>
                <a:cs typeface="Arial"/>
              </a:rPr>
              <a:t>®</a:t>
            </a:r>
            <a:r>
              <a:rPr lang="en-US" sz="800" noProof="0" dirty="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a:extLst>
              <a:ext uri="{FF2B5EF4-FFF2-40B4-BE49-F238E27FC236}">
                <a16:creationId xmlns:a16="http://schemas.microsoft.com/office/drawing/2014/main" id="{E8908264-69B6-46C3-BC5E-E71F4E6DCBC3}"/>
              </a:ext>
            </a:extLst>
          </p:cNvPr>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a:extLst>
              <a:ext uri="{FF2B5EF4-FFF2-40B4-BE49-F238E27FC236}">
                <a16:creationId xmlns:a16="http://schemas.microsoft.com/office/drawing/2014/main" id="{F4BD3913-98BD-4928-8844-07710E664913}"/>
              </a:ext>
            </a:extLst>
          </p:cNvPr>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30" name="Rectangle 29">
            <a:hlinkClick r:id="rId13"/>
            <a:extLst>
              <a:ext uri="{FF2B5EF4-FFF2-40B4-BE49-F238E27FC236}">
                <a16:creationId xmlns:a16="http://schemas.microsoft.com/office/drawing/2014/main" id="{C02D1075-18AF-446B-8E8B-8F7A7B83644F}"/>
              </a:ext>
            </a:extLst>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p>
        </p:txBody>
      </p:sp>
    </p:spTree>
    <p:extLst>
      <p:ext uri="{BB962C8B-B14F-4D97-AF65-F5344CB8AC3E}">
        <p14:creationId xmlns:p14="http://schemas.microsoft.com/office/powerpoint/2010/main" val="823860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340"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1172499700"/>
      </p:ext>
    </p:extLst>
  </p:cSld>
  <p:clrMapOvr>
    <a:masterClrMapping/>
  </p:clrMapOvr>
  <p:extLst>
    <p:ext uri="{DCECCB84-F9BA-43D5-87BE-67443E8EF086}">
      <p15:sldGuideLst xmlns:p15="http://schemas.microsoft.com/office/powerpoint/2012/main">
        <p15:guide id="1" orient="horz" pos="33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CEDC4D-033D-4D91-8567-3DB7DAE7163D}"/>
              </a:ext>
            </a:extLst>
          </p:cNvPr>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a:extLst>
              <a:ext uri="{FF2B5EF4-FFF2-40B4-BE49-F238E27FC236}">
                <a16:creationId xmlns:a16="http://schemas.microsoft.com/office/drawing/2014/main" id="{D339581F-401A-4397-A921-4BD17DB75784}"/>
              </a:ext>
            </a:extLst>
          </p:cNvPr>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a:extLst>
              <a:ext uri="{FF2B5EF4-FFF2-40B4-BE49-F238E27FC236}">
                <a16:creationId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a:extLst>
                <a:ext uri="{FF2B5EF4-FFF2-40B4-BE49-F238E27FC236}">
                  <a16:creationId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a:extLst>
                <a:ext uri="{FF2B5EF4-FFF2-40B4-BE49-F238E27FC236}">
                  <a16:creationId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a:extLst>
                <a:ext uri="{FF2B5EF4-FFF2-40B4-BE49-F238E27FC236}">
                  <a16:creationId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a:extLst>
              <a:ext uri="{FF2B5EF4-FFF2-40B4-BE49-F238E27FC236}">
                <a16:creationId xmlns:a16="http://schemas.microsoft.com/office/drawing/2014/main" id="{19E068FC-C38C-4D71-9A54-1BAA4BDE3E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a16="http://schemas.microsoft.com/office/drawing/2014/main" id="{44891430-3EA5-4446-8A82-C16C5949E1A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864842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28" name="think-cell Slide" r:id="rId25" imgW="360" imgH="360" progId="">
                  <p:embed/>
                </p:oleObj>
              </mc:Choice>
              <mc:Fallback>
                <p:oleObj name="think-cell Slide" r:id="rId25" imgW="360" imgH="36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Freeform 4"/>
          <p:cNvSpPr>
            <a:spLocks/>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a:extLst>
              <a:ext uri="{FF2B5EF4-FFF2-40B4-BE49-F238E27FC236}">
                <a16:creationId xmlns:a16="http://schemas.microsoft.com/office/drawing/2014/main" id="{BE8A762F-12CA-4505-8697-4A98F69D5FCE}"/>
              </a:ext>
            </a:extLst>
          </p:cNvPr>
          <p:cNvGrpSpPr/>
          <p:nvPr/>
        </p:nvGrpSpPr>
        <p:grpSpPr>
          <a:xfrm>
            <a:off x="11501102" y="171573"/>
            <a:ext cx="419436" cy="388988"/>
            <a:chOff x="11501102" y="171573"/>
            <a:chExt cx="419436" cy="388988"/>
          </a:xfrm>
        </p:grpSpPr>
        <p:sp>
          <p:nvSpPr>
            <p:cNvPr id="16" name="Freeform 13">
              <a:extLst>
                <a:ext uri="{FF2B5EF4-FFF2-40B4-BE49-F238E27FC236}">
                  <a16:creationId xmlns:a16="http://schemas.microsoft.com/office/drawing/2014/main" id="{79BDE807-C0D6-4ECC-9D72-3D5332B2877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B598BB44-5C3B-495C-AB4A-980F69B431A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Rectangle 22">
            <a:extLst>
              <a:ext uri="{FF2B5EF4-FFF2-40B4-BE49-F238E27FC236}">
                <a16:creationId xmlns:a16="http://schemas.microsoft.com/office/drawing/2014/main" id="{62606FCD-12D7-42E8-8885-B7F0FE845C7B}"/>
              </a:ext>
            </a:extLst>
          </p:cNvPr>
          <p:cNvSpPr>
            <a:spLocks noChangeArrowheads="1"/>
          </p:cNvSpPr>
          <p:nvPr>
            <p:custDataLst>
              <p:tags r:id="rId24"/>
            </p:custDataLst>
          </p:nvPr>
        </p:nvSpPr>
        <p:spPr bwMode="auto">
          <a:xfrm>
            <a:off x="8297642" y="6623414"/>
            <a:ext cx="327463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a:solidFill>
                  <a:schemeClr val="tx2"/>
                </a:solidFill>
                <a:latin typeface="+mj-lt"/>
                <a:cs typeface="Helvetica Light"/>
              </a:rPr>
              <a:t>Copyright © Capgemini 2018. All Rights Reserved</a:t>
            </a:r>
          </a:p>
        </p:txBody>
      </p:sp>
      <p:grpSp>
        <p:nvGrpSpPr>
          <p:cNvPr id="13" name="Groupe 1">
            <a:extLst>
              <a:ext uri="{FF2B5EF4-FFF2-40B4-BE49-F238E27FC236}">
                <a16:creationId xmlns:a16="http://schemas.microsoft.com/office/drawing/2014/main" id="{577EB6A5-23DD-43BF-A208-FBE1C1F13A76}"/>
              </a:ext>
            </a:extLst>
          </p:cNvPr>
          <p:cNvGrpSpPr/>
          <p:nvPr userDrawn="1"/>
        </p:nvGrpSpPr>
        <p:grpSpPr>
          <a:xfrm>
            <a:off x="11501102" y="171573"/>
            <a:ext cx="419436" cy="388988"/>
            <a:chOff x="11501102" y="171573"/>
            <a:chExt cx="419436" cy="388988"/>
          </a:xfrm>
        </p:grpSpPr>
        <p:sp>
          <p:nvSpPr>
            <p:cNvPr id="18" name="Freeform 13">
              <a:extLst>
                <a:ext uri="{FF2B5EF4-FFF2-40B4-BE49-F238E27FC236}">
                  <a16:creationId xmlns:a16="http://schemas.microsoft.com/office/drawing/2014/main" id="{597B2D71-85F8-4174-8C4E-DBDE45D0B84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F2A9CAEB-7FA0-4E03-826F-90065D089B9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tângulo 43">
            <a:extLst>
              <a:ext uri="{FF2B5EF4-FFF2-40B4-BE49-F238E27FC236}">
                <a16:creationId xmlns:a16="http://schemas.microsoft.com/office/drawing/2014/main" id="{51C34C3B-8FDC-43E4-81A0-87C4A5F5A25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24" name="Text Placeholder 7">
            <a:extLst>
              <a:ext uri="{FF2B5EF4-FFF2-40B4-BE49-F238E27FC236}">
                <a16:creationId xmlns:a16="http://schemas.microsoft.com/office/drawing/2014/main" id="{09065918-DC9F-4FC9-A6E7-0161D6691529}"/>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err="1">
                <a:solidFill>
                  <a:schemeClr val="bg1">
                    <a:lumMod val="65000"/>
                  </a:schemeClr>
                </a:solidFill>
              </a:rPr>
              <a:t>PresentationTitle</a:t>
            </a:r>
            <a:r>
              <a:rPr lang="en-US" dirty="0">
                <a:solidFill>
                  <a:schemeClr val="bg1">
                    <a:lumMod val="65000"/>
                  </a:schemeClr>
                </a:solidFill>
              </a:rPr>
              <a:t> | Author | Date</a:t>
            </a:r>
          </a:p>
        </p:txBody>
      </p:sp>
      <p:grpSp>
        <p:nvGrpSpPr>
          <p:cNvPr id="25" name="Groupe 2">
            <a:extLst>
              <a:ext uri="{FF2B5EF4-FFF2-40B4-BE49-F238E27FC236}">
                <a16:creationId xmlns:a16="http://schemas.microsoft.com/office/drawing/2014/main" id="{EF148A26-2EE3-4DFF-937A-24F97B090662}"/>
              </a:ext>
            </a:extLst>
          </p:cNvPr>
          <p:cNvGrpSpPr/>
          <p:nvPr userDrawn="1"/>
        </p:nvGrpSpPr>
        <p:grpSpPr>
          <a:xfrm>
            <a:off x="12355040" y="33161"/>
            <a:ext cx="360000" cy="1800000"/>
            <a:chOff x="12355040" y="33161"/>
            <a:chExt cx="360000" cy="1800000"/>
          </a:xfrm>
        </p:grpSpPr>
        <p:sp>
          <p:nvSpPr>
            <p:cNvPr id="26" name="Rectangle 25">
              <a:extLst>
                <a:ext uri="{FF2B5EF4-FFF2-40B4-BE49-F238E27FC236}">
                  <a16:creationId xmlns:a16="http://schemas.microsoft.com/office/drawing/2014/main" id="{CF408AB1-E1E8-4614-B3EF-2F3C3368B7D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AF139715-EC56-4D5B-A584-E0D83BFD79AA}"/>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CC0EDB29-34F5-4978-8D83-D1ECDA27E7A6}"/>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3636BF1B-FF79-4731-99CF-5C8E3A808AB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A50A5938-BCF9-47EB-AEAC-22CCE467BA4B}"/>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a:extLst>
              <a:ext uri="{FF2B5EF4-FFF2-40B4-BE49-F238E27FC236}">
                <a16:creationId xmlns:a16="http://schemas.microsoft.com/office/drawing/2014/main" id="{056DABC4-238C-4CD9-9F81-FACE9E275FC2}"/>
              </a:ext>
            </a:extLst>
          </p:cNvPr>
          <p:cNvGrpSpPr/>
          <p:nvPr userDrawn="1"/>
        </p:nvGrpSpPr>
        <p:grpSpPr>
          <a:xfrm>
            <a:off x="12355040" y="1954479"/>
            <a:ext cx="360000" cy="4875772"/>
            <a:chOff x="12355040" y="1954479"/>
            <a:chExt cx="360000" cy="4875772"/>
          </a:xfrm>
        </p:grpSpPr>
        <p:sp>
          <p:nvSpPr>
            <p:cNvPr id="32" name="Rectangle 31">
              <a:extLst>
                <a:ext uri="{FF2B5EF4-FFF2-40B4-BE49-F238E27FC236}">
                  <a16:creationId xmlns:a16="http://schemas.microsoft.com/office/drawing/2014/main" id="{3CF5FC82-0B0B-45D9-AC6B-62240E319CFE}"/>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3" name="Rectangle 32">
              <a:extLst>
                <a:ext uri="{FF2B5EF4-FFF2-40B4-BE49-F238E27FC236}">
                  <a16:creationId xmlns:a16="http://schemas.microsoft.com/office/drawing/2014/main" id="{909D68DC-FC31-4F3C-B0D7-C2B6049BF80B}"/>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4" name="Rectangle 33">
              <a:extLst>
                <a:ext uri="{FF2B5EF4-FFF2-40B4-BE49-F238E27FC236}">
                  <a16:creationId xmlns:a16="http://schemas.microsoft.com/office/drawing/2014/main" id="{8BA315A6-7849-40C0-A88A-615B2F92631B}"/>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a:extLst>
                <a:ext uri="{FF2B5EF4-FFF2-40B4-BE49-F238E27FC236}">
                  <a16:creationId xmlns:a16="http://schemas.microsoft.com/office/drawing/2014/main" id="{BF28AB79-1BA8-4AA3-AF86-133E71900E05}"/>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a:extLst>
                <a:ext uri="{FF2B5EF4-FFF2-40B4-BE49-F238E27FC236}">
                  <a16:creationId xmlns:a16="http://schemas.microsoft.com/office/drawing/2014/main" id="{C95D2749-34E1-48E0-9FF6-A1343E54EB93}"/>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a:extLst>
                <a:ext uri="{FF2B5EF4-FFF2-40B4-BE49-F238E27FC236}">
                  <a16:creationId xmlns:a16="http://schemas.microsoft.com/office/drawing/2014/main" id="{6E04FB71-8EF9-4DE6-88A2-7B3656611B43}"/>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a:extLst>
                <a:ext uri="{FF2B5EF4-FFF2-40B4-BE49-F238E27FC236}">
                  <a16:creationId xmlns:a16="http://schemas.microsoft.com/office/drawing/2014/main" id="{ADD8B16A-69A7-4FBF-8FEA-813DD646001C}"/>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a:extLst>
                <a:ext uri="{FF2B5EF4-FFF2-40B4-BE49-F238E27FC236}">
                  <a16:creationId xmlns:a16="http://schemas.microsoft.com/office/drawing/2014/main" id="{966F75B3-F944-4399-9689-287803F7AD06}"/>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a:extLst>
                <a:ext uri="{FF2B5EF4-FFF2-40B4-BE49-F238E27FC236}">
                  <a16:creationId xmlns:a16="http://schemas.microsoft.com/office/drawing/2014/main" id="{2655E8E1-1AD2-4547-BF2E-8AFB86FEB3E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a:extLst>
                <a:ext uri="{FF2B5EF4-FFF2-40B4-BE49-F238E27FC236}">
                  <a16:creationId xmlns:a16="http://schemas.microsoft.com/office/drawing/2014/main" id="{0FA4E70F-64E0-4B3B-B5CE-3D34B785569E}"/>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a:extLst>
                <a:ext uri="{FF2B5EF4-FFF2-40B4-BE49-F238E27FC236}">
                  <a16:creationId xmlns:a16="http://schemas.microsoft.com/office/drawing/2014/main" id="{453618A8-6B83-41B8-A9C8-5B27E916B5C8}"/>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a:extLst>
                <a:ext uri="{FF2B5EF4-FFF2-40B4-BE49-F238E27FC236}">
                  <a16:creationId xmlns:a16="http://schemas.microsoft.com/office/drawing/2014/main" id="{CB29D2F4-5B6A-40D7-817C-A5F6248B586D}"/>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a:extLst>
                <a:ext uri="{FF2B5EF4-FFF2-40B4-BE49-F238E27FC236}">
                  <a16:creationId xmlns:a16="http://schemas.microsoft.com/office/drawing/2014/main" id="{465058F1-4FC7-42F2-9AF5-C5A15943DD1A}"/>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a:extLst>
                <a:ext uri="{FF2B5EF4-FFF2-40B4-BE49-F238E27FC236}">
                  <a16:creationId xmlns:a16="http://schemas.microsoft.com/office/drawing/2014/main" id="{F74AF38E-9752-4BB7-B058-1B420ABA652F}"/>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151609479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1268" name="think-cell Slide" r:id="rId14" imgW="270" imgH="270" progId="TCLayout.ActiveDocument.1">
                  <p:embed/>
                </p:oleObj>
              </mc:Choice>
              <mc:Fallback>
                <p:oleObj name="think-cell Slide" r:id="rId14" imgW="270" imgH="27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2017. All rights reserved  </a:t>
            </a:r>
            <a:r>
              <a:rPr lang="en-US"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spTree>
    <p:extLst>
      <p:ext uri="{BB962C8B-B14F-4D97-AF65-F5344CB8AC3E}">
        <p14:creationId xmlns:p14="http://schemas.microsoft.com/office/powerpoint/2010/main" val="2066722123"/>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16.jpe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3422620922"/>
              </p:ext>
            </p:extLst>
          </p:nvPr>
        </p:nvGraphicFramePr>
        <p:xfrm>
          <a:off x="9229514" y="1143001"/>
          <a:ext cx="2962486" cy="5254626"/>
        </p:xfrm>
        <a:graphic>
          <a:graphicData uri="http://schemas.openxmlformats.org/drawingml/2006/table">
            <a:tbl>
              <a:tblPr firstRow="1" bandRow="1">
                <a:tableStyleId>{0E3FDE45-AF77-4B5C-9715-49D594BDF05E}</a:tableStyleId>
              </a:tblPr>
              <a:tblGrid>
                <a:gridCol w="733811">
                  <a:extLst>
                    <a:ext uri="{9D8B030D-6E8A-4147-A177-3AD203B41FA5}">
                      <a16:colId xmlns:a16="http://schemas.microsoft.com/office/drawing/2014/main" val="3331298770"/>
                    </a:ext>
                  </a:extLst>
                </a:gridCol>
                <a:gridCol w="2228675">
                  <a:extLst>
                    <a:ext uri="{9D8B030D-6E8A-4147-A177-3AD203B41FA5}">
                      <a16:colId xmlns:a16="http://schemas.microsoft.com/office/drawing/2014/main" val="879084521"/>
                    </a:ext>
                  </a:extLst>
                </a:gridCol>
              </a:tblGrid>
              <a:tr h="433256">
                <a:tc>
                  <a:txBody>
                    <a:bodyPr/>
                    <a:lstStyle/>
                    <a:p>
                      <a:r>
                        <a:rPr kumimoji="0" lang="en-US" altLang="en-US" sz="800" b="0" u="none" strike="noStrike" kern="1200" cap="none" spc="0" normalizeH="0" baseline="0" noProof="0" dirty="0">
                          <a:ln>
                            <a:noFill/>
                          </a:ln>
                          <a:effectLst/>
                          <a:uLnTx/>
                          <a:uFillTx/>
                        </a:rPr>
                        <a:t>Java 8 /J2EE</a:t>
                      </a:r>
                      <a:r>
                        <a:rPr kumimoji="0" lang="en-US" sz="800" b="0" u="none" strike="noStrike" kern="1200" cap="none" spc="0" normalizeH="0" baseline="0" dirty="0">
                          <a:ln>
                            <a:noFill/>
                          </a:ln>
                          <a:effectLst/>
                          <a:uLnTx/>
                          <a:uFillTx/>
                        </a:rPr>
                        <a:t> </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dirty="0">
                          <a:ln>
                            <a:noFill/>
                          </a:ln>
                          <a:effectLst/>
                          <a:uLnTx/>
                          <a:uFillTx/>
                        </a:rPr>
                        <a:t>Java Basics, OOPS, Generics, Collections, Arrays, Loops, Lambda Exp, Stream API</a:t>
                      </a:r>
                    </a:p>
                  </a:txBody>
                  <a:tcPr/>
                </a:tc>
                <a:extLst>
                  <a:ext uri="{0D108BD9-81ED-4DB2-BD59-A6C34878D82A}">
                    <a16:rowId xmlns:a16="http://schemas.microsoft.com/office/drawing/2014/main" val="3727898659"/>
                  </a:ext>
                </a:extLst>
              </a:tr>
              <a:tr h="4193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u="none" strike="noStrike" kern="1200" cap="none" spc="0" normalizeH="0" baseline="0" noProof="0" dirty="0">
                          <a:ln>
                            <a:noFill/>
                          </a:ln>
                          <a:effectLst/>
                          <a:uLnTx/>
                          <a:uFillTx/>
                        </a:rPr>
                        <a:t>Spring core</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IOC &amp; Dependency Injection, Autowire</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294054581"/>
                  </a:ext>
                </a:extLst>
              </a:tr>
              <a:tr h="648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u="none" strike="noStrike" kern="1200" cap="none" spc="0" normalizeH="0" baseline="0" noProof="0" dirty="0">
                          <a:ln>
                            <a:noFill/>
                          </a:ln>
                          <a:effectLst/>
                          <a:uLnTx/>
                          <a:uFillTx/>
                        </a:rPr>
                        <a:t>Spring REST</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REST controllers, Implementation of GET, POST, PUT &amp; DELETE, Bean Validation &amp; Exception Handling ,Controller &amp; Repository layer</a:t>
                      </a:r>
                      <a:endParaRPr lang="en-US" sz="700" dirty="0">
                        <a:solidFill>
                          <a:schemeClr val="tx1"/>
                        </a:solidFill>
                      </a:endParaRPr>
                    </a:p>
                  </a:txBody>
                  <a:tcPr/>
                </a:tc>
                <a:extLst>
                  <a:ext uri="{0D108BD9-81ED-4DB2-BD59-A6C34878D82A}">
                    <a16:rowId xmlns:a16="http://schemas.microsoft.com/office/drawing/2014/main" val="3229840877"/>
                  </a:ext>
                </a:extLst>
              </a:tr>
              <a:tr h="433256">
                <a:tc>
                  <a:txBody>
                    <a:bodyPr/>
                    <a:lstStyle/>
                    <a:p>
                      <a:r>
                        <a:rPr kumimoji="0" lang="en-US" sz="800" u="none" strike="noStrike" kern="1200" cap="none" spc="0" normalizeH="0" baseline="0" dirty="0">
                          <a:ln>
                            <a:noFill/>
                          </a:ln>
                          <a:effectLst/>
                          <a:uLnTx/>
                          <a:uFillTx/>
                        </a:rPr>
                        <a:t>Spring Data JPA</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Implement DAO layer using spring Data repositories, Transaction Management</a:t>
                      </a:r>
                      <a:endParaRPr lang="en-US" sz="700" dirty="0">
                        <a:solidFill>
                          <a:schemeClr val="tx1"/>
                        </a:solidFill>
                      </a:endParaRPr>
                    </a:p>
                  </a:txBody>
                  <a:tcPr/>
                </a:tc>
                <a:extLst>
                  <a:ext uri="{0D108BD9-81ED-4DB2-BD59-A6C34878D82A}">
                    <a16:rowId xmlns:a16="http://schemas.microsoft.com/office/drawing/2014/main" val="668073409"/>
                  </a:ext>
                </a:extLst>
              </a:tr>
              <a:tr h="724311">
                <a:tc>
                  <a:txBody>
                    <a:bodyPr/>
                    <a:lstStyle/>
                    <a:p>
                      <a:r>
                        <a:rPr kumimoji="0" lang="en-US" sz="800" u="none" strike="noStrike" kern="1200" cap="none" spc="0" normalizeH="0" baseline="0" dirty="0">
                          <a:ln>
                            <a:noFill/>
                          </a:ln>
                          <a:effectLst/>
                          <a:uLnTx/>
                          <a:uFillTx/>
                        </a:rPr>
                        <a:t>Spring Boot Microservices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Spring Boot Starters, annotations, Messaging Service , Swagger API documents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135133130"/>
                  </a:ext>
                </a:extLst>
              </a:tr>
              <a:tr h="433256">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Cloud</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Eureka, Netflix Hystrix, Netflix Zuul</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978295346"/>
                  </a:ext>
                </a:extLst>
              </a:tr>
              <a:tr h="319385">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React</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Components, Hooks, Event handling</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781158786"/>
                  </a:ext>
                </a:extLst>
              </a:tr>
              <a:tr h="4332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kern="1200" dirty="0">
                          <a:solidFill>
                            <a:schemeClr val="tx1"/>
                          </a:solidFill>
                          <a:effectLst/>
                          <a:latin typeface="+mn-lt"/>
                          <a:ea typeface="+mn-ea"/>
                          <a:cs typeface="+mn-cs"/>
                        </a:rPr>
                        <a:t>PostgreSQL</a:t>
                      </a:r>
                      <a:endParaRPr lang="en-IN" sz="700" kern="1200" dirty="0">
                        <a:solidFill>
                          <a:schemeClr val="tx1"/>
                        </a:solidFill>
                        <a:effectLst/>
                        <a:latin typeface="+mn-lt"/>
                        <a:ea typeface="+mn-ea"/>
                        <a:cs typeface="+mn-cs"/>
                      </a:endParaRPr>
                    </a:p>
                    <a:p>
                      <a:pPr marL="0" lvl="1" indent="0" algn="l" defTabSz="914400" rtl="0" eaLnBrk="1" latinLnBrk="0" hangingPunct="1">
                        <a:buFont typeface="Arial" panose="020B0604020202020204" pitchFamily="34" charset="0"/>
                        <a:buNone/>
                      </a:pP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158575213"/>
                  </a:ext>
                </a:extLst>
              </a:tr>
              <a:tr h="4193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HTML 5 &amp; CSS 3,JavaScript</a:t>
                      </a:r>
                    </a:p>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298680090"/>
                  </a:ext>
                </a:extLst>
              </a:tr>
              <a:tr h="4193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lvl="0"/>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Postman, Maven,</a:t>
                      </a:r>
                      <a:r>
                        <a:rPr lang="en-US" sz="700" kern="1200" dirty="0">
                          <a:solidFill>
                            <a:schemeClr val="tx1"/>
                          </a:solidFill>
                          <a:effectLst/>
                          <a:latin typeface="+mn-lt"/>
                          <a:ea typeface="+mn-ea"/>
                          <a:cs typeface="+mn-cs"/>
                        </a:rPr>
                        <a:t> eclipse IDE</a:t>
                      </a:r>
                      <a:r>
                        <a:rPr lang="en-IN" sz="700" kern="1200" dirty="0">
                          <a:solidFill>
                            <a:schemeClr val="tx1"/>
                          </a:solidFill>
                          <a:effectLst/>
                          <a:latin typeface="+mn-lt"/>
                          <a:ea typeface="+mn-ea"/>
                          <a:cs typeface="+mn-cs"/>
                        </a:rPr>
                        <a:t>,</a:t>
                      </a:r>
                    </a:p>
                    <a:p>
                      <a:pPr lvl="0"/>
                      <a:r>
                        <a:rPr lang="en-US" sz="700" kern="1200" dirty="0">
                          <a:solidFill>
                            <a:schemeClr val="tx1"/>
                          </a:solidFill>
                          <a:effectLst/>
                          <a:latin typeface="+mn-lt"/>
                          <a:ea typeface="+mn-ea"/>
                          <a:cs typeface="+mn-cs"/>
                        </a:rPr>
                        <a:t>Visual Studio Code</a:t>
                      </a:r>
                      <a:endParaRPr lang="en-IN" sz="700" kern="1200" dirty="0">
                        <a:solidFill>
                          <a:schemeClr val="tx1"/>
                        </a:solidFill>
                        <a:effectLst/>
                        <a:latin typeface="+mn-lt"/>
                        <a:ea typeface="+mn-ea"/>
                        <a:cs typeface="+mn-cs"/>
                      </a:endParaRPr>
                    </a:p>
                  </a:txBody>
                  <a:tcPr/>
                </a:tc>
                <a:extLst>
                  <a:ext uri="{0D108BD9-81ED-4DB2-BD59-A6C34878D82A}">
                    <a16:rowId xmlns:a16="http://schemas.microsoft.com/office/drawing/2014/main" val="9512774"/>
                  </a:ext>
                </a:extLst>
              </a:tr>
              <a:tr h="571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learning</a:t>
                      </a:r>
                    </a:p>
                  </a:txBody>
                  <a:tcPr/>
                </a:tc>
                <a:extLst>
                  <a:ext uri="{0D108BD9-81ED-4DB2-BD59-A6C34878D82A}">
                    <a16:rowId xmlns:a16="http://schemas.microsoft.com/office/drawing/2014/main" val="645317192"/>
                  </a:ext>
                </a:extLst>
              </a:tr>
            </a:tbl>
          </a:graphicData>
        </a:graphic>
      </p:graphicFrame>
      <p:sp>
        <p:nvSpPr>
          <p:cNvPr id="7170" name="Text Placeholder 18">
            <a:extLst>
              <a:ext uri="{FF2B5EF4-FFF2-40B4-BE49-F238E27FC236}">
                <a16:creationId xmlns:a16="http://schemas.microsoft.com/office/drawing/2014/main" id="{4EF0A5D5-CB77-4BCF-86BB-EC8AFA4AA0E3}"/>
              </a:ext>
            </a:extLst>
          </p:cNvPr>
          <p:cNvSpPr>
            <a:spLocks noGrp="1"/>
          </p:cNvSpPr>
          <p:nvPr>
            <p:ph type="body" sz="quarter" idx="36"/>
          </p:nvPr>
        </p:nvSpPr>
        <p:spPr>
          <a:xfrm>
            <a:off x="4495800" y="2819399"/>
            <a:ext cx="4297081" cy="3187701"/>
          </a:xfrm>
        </p:spPr>
        <p:txBody>
          <a:bodyPr/>
          <a:lstStyle/>
          <a:p>
            <a:pPr marL="171450" indent="-171450" eaLnBrk="1" hangingPunct="1">
              <a:lnSpc>
                <a:spcPct val="114000"/>
              </a:lnSpc>
              <a:buFont typeface="Arial" panose="020B0604020202020204" pitchFamily="34" charset="0"/>
              <a:buChar char="•"/>
            </a:pPr>
            <a:r>
              <a:rPr lang="en-US" sz="1100" b="1" u="sng" dirty="0">
                <a:effectLst/>
                <a:ea typeface="Times New Roman" panose="02020603050405020304" pitchFamily="18" charset="0"/>
                <a:cs typeface="Times New Roman" panose="02020603050405020304" pitchFamily="18" charset="0"/>
              </a:rPr>
              <a:t>Neo bookstore </a:t>
            </a:r>
            <a:endParaRPr lang="en-US" sz="1100" b="1" u="sng" dirty="0">
              <a:ea typeface="Times New Roman" panose="02020603050405020304" pitchFamily="18" charset="0"/>
              <a:cs typeface="Times New Roman" panose="02020603050405020304" pitchFamily="18" charset="0"/>
            </a:endParaRPr>
          </a:p>
          <a:p>
            <a:pPr marL="171450" indent="-171450" eaLnBrk="1" hangingPunct="1">
              <a:lnSpc>
                <a:spcPct val="114000"/>
              </a:lnSpc>
              <a:buFont typeface="Arial" panose="020B0604020202020204" pitchFamily="34" charset="0"/>
              <a:buChar char="•"/>
            </a:pPr>
            <a:r>
              <a:rPr lang="en-US" sz="1100" b="1" u="sng" dirty="0">
                <a:effectLst/>
                <a:ea typeface="Times New Roman" panose="02020603050405020304" pitchFamily="18" charset="0"/>
                <a:cs typeface="Times New Roman" panose="02020603050405020304" pitchFamily="18" charset="0"/>
              </a:rPr>
              <a:t>On Demand Car Wash</a:t>
            </a:r>
          </a:p>
          <a:p>
            <a:pPr eaLnBrk="1" hangingPunct="1">
              <a:lnSpc>
                <a:spcPct val="114000"/>
              </a:lnSpc>
            </a:pPr>
            <a:r>
              <a:rPr lang="en-US" b="1" dirty="0">
                <a:effectLst/>
                <a:ea typeface="Times New Roman" panose="02020603050405020304" pitchFamily="18" charset="0"/>
                <a:cs typeface="Times New Roman" panose="02020603050405020304" pitchFamily="18" charset="0"/>
              </a:rPr>
              <a:t>Backend Developer:</a:t>
            </a:r>
            <a:endParaRPr lang="en-US" b="1" u="sng" dirty="0">
              <a:cs typeface="Times New Roman" panose="02020603050405020304" pitchFamily="18" charset="0"/>
            </a:endParaRPr>
          </a:p>
          <a:p>
            <a:pPr eaLnBrk="1" hangingPunct="1">
              <a:lnSpc>
                <a:spcPct val="100000"/>
              </a:lnSpc>
            </a:pPr>
            <a:r>
              <a:rPr lang="en-US" sz="900" dirty="0">
                <a:effectLst/>
                <a:latin typeface="+mn-lt"/>
                <a:ea typeface="Times New Roman" panose="02020603050405020304" pitchFamily="18" charset="0"/>
              </a:rPr>
              <a:t>In our project we have used Spring Boot Framework of core java for backend development. </a:t>
            </a:r>
            <a:endParaRPr lang="en-IN" sz="900" dirty="0">
              <a:latin typeface="+mn-lt"/>
              <a:ea typeface="Times New Roman" panose="02020603050405020304" pitchFamily="18" charset="0"/>
            </a:endParaRPr>
          </a:p>
          <a:p>
            <a:pPr eaLnBrk="1" hangingPunct="1">
              <a:lnSpc>
                <a:spcPct val="100000"/>
              </a:lnSpc>
            </a:pPr>
            <a:r>
              <a:rPr lang="en-US" sz="900" dirty="0">
                <a:effectLst/>
                <a:latin typeface="+mn-lt"/>
                <a:ea typeface="Times New Roman" panose="02020603050405020304" pitchFamily="18" charset="0"/>
              </a:rPr>
              <a:t>Designed UML diagrams based on given requirements.</a:t>
            </a:r>
            <a:r>
              <a:rPr lang="en-IN" sz="900" dirty="0">
                <a:latin typeface="+mn-lt"/>
                <a:ea typeface="Times New Roman" panose="02020603050405020304" pitchFamily="18" charset="0"/>
              </a:rPr>
              <a:t>.</a:t>
            </a:r>
            <a:r>
              <a:rPr lang="en-US" sz="900" dirty="0">
                <a:effectLst/>
                <a:latin typeface="+mn-lt"/>
                <a:ea typeface="Times New Roman" panose="02020603050405020304" pitchFamily="18" charset="0"/>
              </a:rPr>
              <a:t>Used Spring boot to perform backend tasks. We used Spring data JPA for creation of entites in  PostgreSQL.</a:t>
            </a:r>
            <a:r>
              <a:rPr lang="en-IN" sz="900" dirty="0">
                <a:latin typeface="+mn-lt"/>
                <a:ea typeface="Times New Roman" panose="02020603050405020304" pitchFamily="18" charset="0"/>
              </a:rPr>
              <a:t>.</a:t>
            </a:r>
            <a:r>
              <a:rPr lang="en-US" sz="900" dirty="0">
                <a:effectLst/>
                <a:latin typeface="+mn-lt"/>
                <a:ea typeface="Times New Roman" panose="02020603050405020304" pitchFamily="18" charset="0"/>
                <a:cs typeface="Times New Roman" panose="02020603050405020304" pitchFamily="18" charset="0"/>
              </a:rPr>
              <a:t>Done unit testing for all the possible use cases by postman tool.</a:t>
            </a:r>
          </a:p>
          <a:p>
            <a:pPr eaLnBrk="1" hangingPunct="1">
              <a:lnSpc>
                <a:spcPct val="100000"/>
              </a:lnSpc>
            </a:pPr>
            <a:r>
              <a:rPr lang="en-US" sz="1100" b="1" u="sng" dirty="0">
                <a:effectLst/>
                <a:ea typeface="Times New Roman" panose="02020603050405020304" pitchFamily="18" charset="0"/>
                <a:cs typeface="Times New Roman" panose="02020603050405020304" pitchFamily="18" charset="0"/>
              </a:rPr>
              <a:t>Expense Tracker</a:t>
            </a:r>
          </a:p>
          <a:p>
            <a:pPr eaLnBrk="1" hangingPunct="1">
              <a:lnSpc>
                <a:spcPct val="100000"/>
              </a:lnSpc>
            </a:pPr>
            <a:r>
              <a:rPr lang="en-US" b="1" dirty="0">
                <a:effectLst/>
                <a:ea typeface="Times New Roman" panose="02020603050405020304" pitchFamily="18" charset="0"/>
                <a:cs typeface="Times New Roman" panose="02020603050405020304" pitchFamily="18" charset="0"/>
              </a:rPr>
              <a:t>Front Developer:</a:t>
            </a:r>
            <a:endParaRPr lang="en-US" altLang="en-US" b="1" dirty="0"/>
          </a:p>
          <a:p>
            <a:pPr>
              <a:lnSpc>
                <a:spcPct val="114000"/>
              </a:lnSpc>
            </a:pPr>
            <a:r>
              <a:rPr lang="en-US" sz="900" dirty="0">
                <a:effectLst/>
                <a:latin typeface="+mn-lt"/>
                <a:ea typeface="Times New Roman" panose="02020603050405020304" pitchFamily="18" charset="0"/>
              </a:rPr>
              <a:t>In our project we have used HTML, CSS, JS and ReactJs for front development. We can add new expense to expenses tracker, and we can see all expenses in the expense tracker. We used vscode and node.js to create the expense tracker projec</a:t>
            </a:r>
            <a:r>
              <a:rPr lang="en-US" sz="800" dirty="0">
                <a:effectLst/>
                <a:latin typeface="+mn-lt"/>
                <a:ea typeface="Times New Roman" panose="02020603050405020304" pitchFamily="18" charset="0"/>
              </a:rPr>
              <a:t>t.</a:t>
            </a:r>
            <a:endParaRPr lang="en-IN" sz="800" dirty="0">
              <a:effectLst/>
              <a:latin typeface="+mn-lt"/>
              <a:ea typeface="Times New Roman" panose="02020603050405020304" pitchFamily="18" charset="0"/>
            </a:endParaRPr>
          </a:p>
          <a:p>
            <a:pPr marL="457200" indent="-228600">
              <a:tabLst>
                <a:tab pos="457200" algn="l"/>
                <a:tab pos="457200" algn="l"/>
              </a:tabLst>
            </a:pPr>
            <a:r>
              <a:rPr lang="en-US" sz="1800" dirty="0">
                <a:effectLst/>
                <a:latin typeface="Avenir 45"/>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eaLnBrk="1" hangingPunct="1">
              <a:lnSpc>
                <a:spcPct val="114000"/>
              </a:lnSpc>
            </a:pPr>
            <a:endParaRPr lang="en-IN" altLang="nl-NL" b="1" dirty="0"/>
          </a:p>
          <a:p>
            <a:pPr eaLnBrk="1" hangingPunct="1">
              <a:lnSpc>
                <a:spcPct val="114000"/>
              </a:lnSpc>
            </a:pPr>
            <a:r>
              <a:rPr lang="en-IN" altLang="nl-NL" b="1" dirty="0"/>
              <a:t> </a:t>
            </a:r>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a:extLst>
              <a:ext uri="{FF2B5EF4-FFF2-40B4-BE49-F238E27FC236}">
                <a16:creationId xmlns:a16="http://schemas.microsoft.com/office/drawing/2014/main" id="{FF4CCF3B-4887-442F-A757-E5908FA1808D}"/>
              </a:ext>
            </a:extLst>
          </p:cNvPr>
          <p:cNvSpPr>
            <a:spLocks noGrp="1"/>
          </p:cNvSpPr>
          <p:nvPr>
            <p:ph type="body" sz="quarter" idx="42"/>
          </p:nvPr>
        </p:nvSpPr>
        <p:spPr>
          <a:xfrm>
            <a:off x="2468563" y="665163"/>
            <a:ext cx="6056312" cy="322262"/>
          </a:xfrm>
        </p:spPr>
        <p:txBody>
          <a:bodyPr/>
          <a:lstStyle/>
          <a:p>
            <a:pPr fontAlgn="base">
              <a:spcBef>
                <a:spcPct val="0"/>
              </a:spcBef>
            </a:pPr>
            <a:r>
              <a:rPr lang="nl-NL" altLang="nl-NL" dirty="0"/>
              <a:t>Analyst/Software Engineer</a:t>
            </a:r>
          </a:p>
        </p:txBody>
      </p:sp>
      <p:sp>
        <p:nvSpPr>
          <p:cNvPr id="7173" name="Text Placeholder 24">
            <a:extLst>
              <a:ext uri="{FF2B5EF4-FFF2-40B4-BE49-F238E27FC236}">
                <a16:creationId xmlns:a16="http://schemas.microsoft.com/office/drawing/2014/main" id="{0DF2099D-8FC2-44CE-AB60-E2C2257CB05D}"/>
              </a:ext>
            </a:extLst>
          </p:cNvPr>
          <p:cNvSpPr>
            <a:spLocks noGrp="1"/>
          </p:cNvSpPr>
          <p:nvPr>
            <p:ph type="body" sz="quarter" idx="47"/>
          </p:nvPr>
        </p:nvSpPr>
        <p:spPr>
          <a:xfrm>
            <a:off x="3200400" y="1613693"/>
            <a:ext cx="2967039" cy="165895"/>
          </a:xfrm>
        </p:spPr>
        <p:txBody>
          <a:bodyPr/>
          <a:lstStyle/>
          <a:p>
            <a:pPr eaLnBrk="1" hangingPunct="1"/>
            <a:r>
              <a:rPr lang="nl-NL" altLang="nl-NL" dirty="0"/>
              <a:t>Mythresh.udatha@capgemini.com</a:t>
            </a:r>
          </a:p>
        </p:txBody>
      </p:sp>
      <p:sp>
        <p:nvSpPr>
          <p:cNvPr id="7174" name="Text Placeholder 25">
            <a:extLst>
              <a:ext uri="{FF2B5EF4-FFF2-40B4-BE49-F238E27FC236}">
                <a16:creationId xmlns:a16="http://schemas.microsoft.com/office/drawing/2014/main" id="{8B11FF61-9AA9-42E0-800D-B94AC06E095E}"/>
              </a:ext>
            </a:extLst>
          </p:cNvPr>
          <p:cNvSpPr>
            <a:spLocks noGrp="1"/>
          </p:cNvSpPr>
          <p:nvPr>
            <p:ph type="body" sz="quarter" idx="48"/>
          </p:nvPr>
        </p:nvSpPr>
        <p:spPr>
          <a:xfrm>
            <a:off x="3271746" y="1838279"/>
            <a:ext cx="2459130" cy="165895"/>
          </a:xfrm>
        </p:spPr>
        <p:txBody>
          <a:bodyPr/>
          <a:lstStyle/>
          <a:p>
            <a:pPr eaLnBrk="1" hangingPunct="1"/>
            <a:r>
              <a:rPr lang="nl-NL" altLang="nl-NL" dirty="0"/>
              <a:t>+91 8317551708</a:t>
            </a:r>
          </a:p>
        </p:txBody>
      </p:sp>
      <p:sp>
        <p:nvSpPr>
          <p:cNvPr id="7175" name="Text Placeholder 26">
            <a:extLst>
              <a:ext uri="{FF2B5EF4-FFF2-40B4-BE49-F238E27FC236}">
                <a16:creationId xmlns:a16="http://schemas.microsoft.com/office/drawing/2014/main" id="{BADEA8C0-D1A3-4608-9E63-683339DCC944}"/>
              </a:ext>
            </a:extLst>
          </p:cNvPr>
          <p:cNvSpPr>
            <a:spLocks noGrp="1"/>
          </p:cNvSpPr>
          <p:nvPr>
            <p:ph type="body" sz="quarter" idx="50"/>
          </p:nvPr>
        </p:nvSpPr>
        <p:spPr>
          <a:xfrm>
            <a:off x="438150" y="2819399"/>
            <a:ext cx="3752850" cy="3187701"/>
          </a:xfrm>
        </p:spPr>
        <p:txBody>
          <a:bodyPr/>
          <a:lstStyle/>
          <a:p>
            <a:r>
              <a:rPr lang="en-US" altLang="en-US" sz="1100" b="1" dirty="0"/>
              <a:t>Full Stack Developer</a:t>
            </a:r>
          </a:p>
          <a:p>
            <a:pPr marL="171450" indent="-171450">
              <a:buFont typeface="Arial" panose="020B0604020202020204" pitchFamily="34" charset="0"/>
              <a:buChar char="•"/>
            </a:pPr>
            <a:r>
              <a:rPr lang="en-US" dirty="0"/>
              <a:t>Hands on experience in creating </a:t>
            </a:r>
            <a:r>
              <a:rPr lang="en-US" b="1" dirty="0"/>
              <a:t>microservices</a:t>
            </a:r>
            <a:r>
              <a:rPr lang="en-US" dirty="0"/>
              <a:t> with </a:t>
            </a:r>
            <a:r>
              <a:rPr lang="en-US" b="1" dirty="0"/>
              <a:t>Spring boot, Spring Security, Netflix Zuul API Gateway,</a:t>
            </a:r>
            <a:r>
              <a:rPr lang="en-US" dirty="0"/>
              <a:t> Eureka server</a:t>
            </a:r>
          </a:p>
          <a:p>
            <a:pPr marL="171450" indent="-171450">
              <a:buFont typeface="Arial" panose="020B0604020202020204" pitchFamily="34" charset="0"/>
              <a:buChar char="•"/>
            </a:pPr>
            <a:r>
              <a:rPr lang="en-US" dirty="0">
                <a:latin typeface="+mn-lt"/>
              </a:rPr>
              <a:t>Hands on experience in creating </a:t>
            </a:r>
            <a:r>
              <a:rPr lang="en-US" b="1" dirty="0">
                <a:latin typeface="+mn-lt"/>
              </a:rPr>
              <a:t>DDL,DML,DCL,DQL in Postgres SQL</a:t>
            </a:r>
          </a:p>
          <a:p>
            <a:pPr marL="171450" indent="-171450">
              <a:buFont typeface="Arial" panose="020B0604020202020204" pitchFamily="34" charset="0"/>
              <a:buChar char="•"/>
            </a:pPr>
            <a:r>
              <a:rPr lang="en-US" b="1" dirty="0">
                <a:latin typeface="+mn-lt"/>
              </a:rPr>
              <a:t>Git &amp; GitHub </a:t>
            </a:r>
            <a:r>
              <a:rPr lang="en-US" dirty="0">
                <a:latin typeface="+mn-lt"/>
              </a:rPr>
              <a:t>knowledge on an intermediate level</a:t>
            </a:r>
            <a:endParaRPr lang="en-US" b="1" dirty="0">
              <a:latin typeface="+mn-lt"/>
            </a:endParaRPr>
          </a:p>
          <a:p>
            <a:pPr marL="171450" indent="-171450">
              <a:buFont typeface="Arial" panose="020B0604020202020204" pitchFamily="34" charset="0"/>
              <a:buChar char="•"/>
            </a:pPr>
            <a:r>
              <a:rPr lang="en-US" dirty="0">
                <a:latin typeface="+mn-lt"/>
              </a:rPr>
              <a:t>Knowledge on </a:t>
            </a:r>
            <a:r>
              <a:rPr lang="en-US" b="1" dirty="0">
                <a:latin typeface="+mn-lt"/>
              </a:rPr>
              <a:t>HTML, CSS and React</a:t>
            </a:r>
          </a:p>
          <a:p>
            <a:pPr marL="171450" indent="-171450">
              <a:buFont typeface="Arial" panose="020B0604020202020204" pitchFamily="34" charset="0"/>
              <a:buChar char="•"/>
            </a:pPr>
            <a:r>
              <a:rPr lang="en-US" dirty="0">
                <a:latin typeface="+mn-lt"/>
              </a:rPr>
              <a:t>Ready to learn new technologies and implement them to further improve my knowledge </a:t>
            </a:r>
          </a:p>
          <a:p>
            <a:br>
              <a:rPr lang="en-US" altLang="nl-NL" dirty="0"/>
            </a:br>
            <a:endParaRPr lang="en-US" altLang="nl-NL" dirty="0"/>
          </a:p>
        </p:txBody>
      </p:sp>
      <p:sp>
        <p:nvSpPr>
          <p:cNvPr id="7178" name="Text Placeholder 1">
            <a:extLst>
              <a:ext uri="{FF2B5EF4-FFF2-40B4-BE49-F238E27FC236}">
                <a16:creationId xmlns:a16="http://schemas.microsoft.com/office/drawing/2014/main" id="{3959C7F9-3FBF-4100-BACD-7A75D3D2E90B}"/>
              </a:ext>
            </a:extLst>
          </p:cNvPr>
          <p:cNvSpPr>
            <a:spLocks noGrp="1"/>
          </p:cNvSpPr>
          <p:nvPr>
            <p:ph type="body" sz="quarter" idx="41"/>
          </p:nvPr>
        </p:nvSpPr>
        <p:spPr>
          <a:xfrm>
            <a:off x="2468563" y="290513"/>
            <a:ext cx="6223000" cy="306387"/>
          </a:xfrm>
        </p:spPr>
        <p:txBody>
          <a:bodyPr/>
          <a:lstStyle/>
          <a:p>
            <a:r>
              <a:rPr lang="en-IN" altLang="en-US" dirty="0"/>
              <a:t>MYTHRESH SAI MAHADEV UDATHA</a:t>
            </a:r>
          </a:p>
        </p:txBody>
      </p:sp>
      <p:pic>
        <p:nvPicPr>
          <p:cNvPr id="7179" name="Picture 7">
            <a:extLst>
              <a:ext uri="{FF2B5EF4-FFF2-40B4-BE49-F238E27FC236}">
                <a16:creationId xmlns:a16="http://schemas.microsoft.com/office/drawing/2014/main" id="{12618B16-99B6-4F89-A145-C5939A9383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582" t="2058" r="24332" b="4875"/>
          <a:stretch>
            <a:fillRect/>
          </a:stretch>
        </p:blipFill>
        <p:spPr bwMode="auto">
          <a:xfrm>
            <a:off x="4460946" y="6221411"/>
            <a:ext cx="4714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0" name="TextBox 3">
            <a:extLst>
              <a:ext uri="{FF2B5EF4-FFF2-40B4-BE49-F238E27FC236}">
                <a16:creationId xmlns:a16="http://schemas.microsoft.com/office/drawing/2014/main" id="{273FF0AF-5E94-435C-8A2A-7A7CA0FE36A6}"/>
              </a:ext>
            </a:extLst>
          </p:cNvPr>
          <p:cNvSpPr txBox="1">
            <a:spLocks noChangeArrowheads="1"/>
          </p:cNvSpPr>
          <p:nvPr/>
        </p:nvSpPr>
        <p:spPr bwMode="auto">
          <a:xfrm>
            <a:off x="4976883" y="6397625"/>
            <a:ext cx="34099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Check out my work on GitHub </a:t>
            </a:r>
          </a:p>
        </p:txBody>
      </p:sp>
      <p:pic>
        <p:nvPicPr>
          <p:cNvPr id="7182" name="Picture 4" descr="Free icon download | Linkedin">
            <a:extLst>
              <a:ext uri="{FF2B5EF4-FFF2-40B4-BE49-F238E27FC236}">
                <a16:creationId xmlns:a16="http://schemas.microsoft.com/office/drawing/2014/main" id="{89622B52-B834-40D0-9BA5-24EF14F2A6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6881" y="1989138"/>
            <a:ext cx="3254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Placeholder 25">
            <a:extLst>
              <a:ext uri="{FF2B5EF4-FFF2-40B4-BE49-F238E27FC236}">
                <a16:creationId xmlns:a16="http://schemas.microsoft.com/office/drawing/2014/main" id="{B8C26D43-3971-4B32-9403-96D3E3AC5656}"/>
              </a:ext>
            </a:extLst>
          </p:cNvPr>
          <p:cNvSpPr txBox="1">
            <a:spLocks noChangeArrowheads="1"/>
          </p:cNvSpPr>
          <p:nvPr/>
        </p:nvSpPr>
        <p:spPr bwMode="white">
          <a:xfrm>
            <a:off x="3046505" y="1969248"/>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a:ln>
                  <a:noFill/>
                </a:ln>
                <a:solidFill>
                  <a:srgbClr val="FFFFFF"/>
                </a:solidFill>
                <a:effectLst/>
                <a:uLnTx/>
                <a:uFillTx/>
                <a:latin typeface="Verdana" panose="020B0604030504040204" pitchFamily="34" charset="0"/>
                <a:ea typeface="+mn-ea"/>
                <a:cs typeface="+mn-cs"/>
              </a:rPr>
              <a:t>A4</a:t>
            </a:r>
          </a:p>
        </p:txBody>
      </p:sp>
      <p:sp>
        <p:nvSpPr>
          <p:cNvPr id="5" name="Rectangle 4">
            <a:extLst>
              <a:ext uri="{FF2B5EF4-FFF2-40B4-BE49-F238E27FC236}">
                <a16:creationId xmlns:a16="http://schemas.microsoft.com/office/drawing/2014/main" id="{4E726CED-1BAF-414A-893B-4626E9B6F2B4}"/>
              </a:ext>
            </a:extLst>
          </p:cNvPr>
          <p:cNvSpPr/>
          <p:nvPr/>
        </p:nvSpPr>
        <p:spPr>
          <a:xfrm>
            <a:off x="9525000" y="541794"/>
            <a:ext cx="2424112" cy="397929"/>
          </a:xfrm>
          <a:prstGeom prst="rect">
            <a:avLst/>
          </a:prstGeom>
        </p:spPr>
        <p:txBody>
          <a:bodyPr wrap="square">
            <a:spAutoFit/>
          </a:bodyPr>
          <a:lstStyle/>
          <a:p>
            <a:pPr>
              <a:lnSpc>
                <a:spcPct val="114000"/>
              </a:lnSpc>
              <a:defRPr/>
            </a:pPr>
            <a:r>
              <a:rPr lang="en-IN" sz="900" b="1" i="0" dirty="0">
                <a:solidFill>
                  <a:srgbClr val="212529"/>
                </a:solidFill>
                <a:effectLst/>
                <a:latin typeface="Abadi" panose="020B0604020104020204" pitchFamily="34" charset="0"/>
              </a:rPr>
              <a:t>Bachelor of </a:t>
            </a:r>
            <a:r>
              <a:rPr lang="en-IN" sz="900" b="1" dirty="0">
                <a:solidFill>
                  <a:srgbClr val="212529"/>
                </a:solidFill>
                <a:latin typeface="Abadi" panose="020B0604020104020204" pitchFamily="34" charset="0"/>
              </a:rPr>
              <a:t>Engineering</a:t>
            </a:r>
            <a:endParaRPr kumimoji="0" lang="en-US" altLang="nl-NL" sz="900" b="1" i="0" u="none" strike="noStrike" kern="1200" cap="none" spc="0" normalizeH="0" baseline="0" noProof="0" dirty="0">
              <a:ln>
                <a:noFill/>
              </a:ln>
              <a:solidFill>
                <a:prstClr val="black"/>
              </a:solidFill>
              <a:effectLst/>
              <a:uLnTx/>
              <a:uFillTx/>
              <a:latin typeface="Abadi" panose="020B0604020104020204" pitchFamily="34" charset="0"/>
            </a:endParaRPr>
          </a:p>
          <a:p>
            <a:pPr marL="0" marR="0" lvl="0" indent="0" algn="l" defTabSz="914400" rtl="0" eaLnBrk="1" fontAlgn="auto" latinLnBrk="0" hangingPunct="1">
              <a:lnSpc>
                <a:spcPct val="114000"/>
              </a:lnSpc>
              <a:spcBef>
                <a:spcPts val="0"/>
              </a:spcBef>
              <a:spcAft>
                <a:spcPts val="0"/>
              </a:spcAft>
              <a:buClrTx/>
              <a:buSzTx/>
              <a:buFontTx/>
              <a:buNone/>
              <a:tabLst/>
              <a:defRPr/>
            </a:pPr>
            <a:r>
              <a:rPr lang="en-US" sz="900" b="1" dirty="0">
                <a:solidFill>
                  <a:srgbClr val="1F2123"/>
                </a:solidFill>
                <a:effectLst/>
                <a:latin typeface="Abadi" panose="020B0604020104020204" pitchFamily="34" charset="0"/>
                <a:ea typeface="Times New Roman" panose="02020603050405020304" pitchFamily="18" charset="0"/>
                <a:cs typeface="Times New Roman" panose="02020603050405020304" pitchFamily="18" charset="0"/>
              </a:rPr>
              <a:t>Mechanical</a:t>
            </a:r>
            <a:r>
              <a:rPr lang="en-US" sz="900" b="1" spc="-30" dirty="0">
                <a:solidFill>
                  <a:srgbClr val="1F2123"/>
                </a:solidFill>
                <a:effectLst/>
                <a:latin typeface="Abadi" panose="020B0604020104020204" pitchFamily="34" charset="0"/>
                <a:ea typeface="Times New Roman" panose="02020603050405020304" pitchFamily="18" charset="0"/>
                <a:cs typeface="Times New Roman" panose="02020603050405020304" pitchFamily="18" charset="0"/>
              </a:rPr>
              <a:t> </a:t>
            </a:r>
            <a:r>
              <a:rPr lang="en-US" sz="900" b="1" spc="-30" dirty="0">
                <a:solidFill>
                  <a:srgbClr val="1F2123"/>
                </a:solidFill>
                <a:latin typeface="Abadi" panose="020B0604020104020204" pitchFamily="34" charset="0"/>
                <a:ea typeface="Times New Roman" panose="02020603050405020304" pitchFamily="18" charset="0"/>
                <a:cs typeface="Times New Roman" panose="02020603050405020304" pitchFamily="18" charset="0"/>
              </a:rPr>
              <a:t>E</a:t>
            </a:r>
            <a:r>
              <a:rPr lang="en-US" sz="900" b="1" dirty="0">
                <a:solidFill>
                  <a:srgbClr val="1F2123"/>
                </a:solidFill>
                <a:effectLst/>
                <a:latin typeface="Abadi" panose="020B0604020104020204" pitchFamily="34" charset="0"/>
                <a:ea typeface="Times New Roman" panose="02020603050405020304" pitchFamily="18" charset="0"/>
                <a:cs typeface="Times New Roman" panose="02020603050405020304" pitchFamily="18" charset="0"/>
              </a:rPr>
              <a:t>ngineering</a:t>
            </a:r>
            <a:r>
              <a:rPr lang="en-US" sz="900" b="1" spc="5" dirty="0">
                <a:solidFill>
                  <a:srgbClr val="1F2123"/>
                </a:solidFill>
                <a:effectLst/>
                <a:latin typeface="Abadi" panose="020B0604020104020204" pitchFamily="34" charset="0"/>
                <a:ea typeface="Times New Roman" panose="02020603050405020304" pitchFamily="18" charset="0"/>
                <a:cs typeface="Times New Roman" panose="02020603050405020304" pitchFamily="18" charset="0"/>
              </a:rPr>
              <a:t> </a:t>
            </a:r>
            <a:r>
              <a:rPr kumimoji="0" lang="en-US" altLang="nl-NL" sz="900" b="1" i="0" u="none" strike="noStrike" kern="1200" cap="none" spc="0" normalizeH="0" baseline="0" noProof="0" dirty="0">
                <a:ln>
                  <a:noFill/>
                </a:ln>
                <a:solidFill>
                  <a:prstClr val="black"/>
                </a:solidFill>
                <a:effectLst/>
                <a:uLnTx/>
                <a:uFillTx/>
                <a:latin typeface="Abadi" panose="020B0604020104020204" pitchFamily="34" charset="0"/>
              </a:rPr>
              <a:t>: 2017 - 2021</a:t>
            </a:r>
          </a:p>
        </p:txBody>
      </p:sp>
      <p:sp>
        <p:nvSpPr>
          <p:cNvPr id="6" name="Rectangle 5">
            <a:extLst>
              <a:ext uri="{FF2B5EF4-FFF2-40B4-BE49-F238E27FC236}">
                <a16:creationId xmlns:a16="http://schemas.microsoft.com/office/drawing/2014/main" id="{1616387D-79C4-4D2C-8F4C-617036B1459A}"/>
              </a:ext>
            </a:extLst>
          </p:cNvPr>
          <p:cNvSpPr/>
          <p:nvPr/>
        </p:nvSpPr>
        <p:spPr>
          <a:xfrm>
            <a:off x="9242029" y="939723"/>
            <a:ext cx="567784"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nl-NL" sz="10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dirty="0">
              <a:ln>
                <a:noFill/>
              </a:ln>
              <a:solidFill>
                <a:prstClr val="black"/>
              </a:solidFill>
              <a:effectLst/>
              <a:uLnTx/>
              <a:uFillTx/>
              <a:latin typeface="Verdana"/>
              <a:ea typeface="+mn-ea"/>
              <a:cs typeface="+mn-cs"/>
            </a:endParaRPr>
          </a:p>
        </p:txBody>
      </p:sp>
      <p:pic>
        <p:nvPicPr>
          <p:cNvPr id="8" name="Picture Placeholder 7" descr="A picture containing person, person, wall, yellow&#10;&#10;Description automatically generated">
            <a:extLst>
              <a:ext uri="{FF2B5EF4-FFF2-40B4-BE49-F238E27FC236}">
                <a16:creationId xmlns:a16="http://schemas.microsoft.com/office/drawing/2014/main" id="{B7CE57AA-3CA3-49BB-812A-A3BDA656A47C}"/>
              </a:ext>
            </a:extLst>
          </p:cNvPr>
          <p:cNvPicPr>
            <a:picLocks noGrp="1" noChangeAspect="1"/>
          </p:cNvPicPr>
          <p:nvPr>
            <p:ph type="pic" sz="quarter" idx="46"/>
          </p:nvPr>
        </p:nvPicPr>
        <p:blipFill>
          <a:blip r:embed="rId5">
            <a:extLst>
              <a:ext uri="{28A0092B-C50C-407E-A947-70E740481C1C}">
                <a14:useLocalDpi xmlns:a14="http://schemas.microsoft.com/office/drawing/2010/main" val="0"/>
              </a:ext>
            </a:extLst>
          </a:blip>
          <a:srcRect t="11111" b="11111"/>
          <a:stretch>
            <a:fillRect/>
          </a:stretch>
        </p:blipFill>
        <p:spPr>
          <a:xfrm>
            <a:off x="382588" y="236538"/>
            <a:ext cx="1735137" cy="1735137"/>
          </a:xfrm>
        </p:spPr>
      </p:pic>
      <p:sp>
        <p:nvSpPr>
          <p:cNvPr id="11" name="Text Placeholder 10">
            <a:extLst>
              <a:ext uri="{FF2B5EF4-FFF2-40B4-BE49-F238E27FC236}">
                <a16:creationId xmlns:a16="http://schemas.microsoft.com/office/drawing/2014/main" id="{B6235B95-0E58-4D2A-9238-11F1B45CC1D3}"/>
              </a:ext>
            </a:extLst>
          </p:cNvPr>
          <p:cNvSpPr>
            <a:spLocks noGrp="1"/>
          </p:cNvSpPr>
          <p:nvPr>
            <p:ph type="body" sz="quarter" idx="43"/>
          </p:nvPr>
        </p:nvSpPr>
        <p:spPr>
          <a:xfrm>
            <a:off x="3654946" y="1342043"/>
            <a:ext cx="2373312" cy="97492"/>
          </a:xfrm>
        </p:spPr>
        <p:txBody>
          <a:bodyPr/>
          <a:lstStyle/>
          <a:p>
            <a:r>
              <a:rPr lang="en-IN" dirty="0"/>
              <a:t>Bangalore</a:t>
            </a:r>
          </a:p>
        </p:txBody>
      </p:sp>
    </p:spTree>
    <p:extLst>
      <p:ext uri="{BB962C8B-B14F-4D97-AF65-F5344CB8AC3E}">
        <p14:creationId xmlns:p14="http://schemas.microsoft.com/office/powerpoint/2010/main" val="36222758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2A26436E4BF1342AA82160D82C35D38" ma:contentTypeVersion="7" ma:contentTypeDescription="Create a new document." ma:contentTypeScope="" ma:versionID="034b316dddde47361c23449b6a496ba5">
  <xsd:schema xmlns:xsd="http://www.w3.org/2001/XMLSchema" xmlns:xs="http://www.w3.org/2001/XMLSchema" xmlns:p="http://schemas.microsoft.com/office/2006/metadata/properties" xmlns:ns3="3f635e55-0a3f-4500-944e-a9c2d406e1d6" xmlns:ns4="e3da68b3-3937-4a38-b3fc-94d9d6a10e98" targetNamespace="http://schemas.microsoft.com/office/2006/metadata/properties" ma:root="true" ma:fieldsID="6b98cbe66a12ca17d5c59732d0932a15" ns3:_="" ns4:_="">
    <xsd:import namespace="3f635e55-0a3f-4500-944e-a9c2d406e1d6"/>
    <xsd:import namespace="e3da68b3-3937-4a38-b3fc-94d9d6a10e9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635e55-0a3f-4500-944e-a9c2d406e1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3da68b3-3937-4a38-b3fc-94d9d6a10e9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30857F-5B57-4BA6-87F2-356B3F6438EF}">
  <ds:schemaRefs>
    <ds:schemaRef ds:uri="http://schemas.openxmlformats.org/package/2006/metadata/core-properties"/>
    <ds:schemaRef ds:uri="http://purl.org/dc/dcmitype/"/>
    <ds:schemaRef ds:uri="http://schemas.microsoft.com/office/infopath/2007/PartnerControls"/>
    <ds:schemaRef ds:uri="3f635e55-0a3f-4500-944e-a9c2d406e1d6"/>
    <ds:schemaRef ds:uri="http://purl.org/dc/elements/1.1/"/>
    <ds:schemaRef ds:uri="http://schemas.microsoft.com/office/2006/metadata/properties"/>
    <ds:schemaRef ds:uri="http://schemas.microsoft.com/office/2006/documentManagement/types"/>
    <ds:schemaRef ds:uri="http://purl.org/dc/terms/"/>
    <ds:schemaRef ds:uri="e3da68b3-3937-4a38-b3fc-94d9d6a10e98"/>
    <ds:schemaRef ds:uri="http://www.w3.org/XML/1998/namespace"/>
  </ds:schemaRefs>
</ds:datastoreItem>
</file>

<file path=customXml/itemProps2.xml><?xml version="1.0" encoding="utf-8"?>
<ds:datastoreItem xmlns:ds="http://schemas.openxmlformats.org/officeDocument/2006/customXml" ds:itemID="{C79773B3-BEED-4422-883D-E6632C7C7120}">
  <ds:schemaRefs>
    <ds:schemaRef ds:uri="http://schemas.microsoft.com/sharepoint/v3/contenttype/forms"/>
  </ds:schemaRefs>
</ds:datastoreItem>
</file>

<file path=customXml/itemProps3.xml><?xml version="1.0" encoding="utf-8"?>
<ds:datastoreItem xmlns:ds="http://schemas.openxmlformats.org/officeDocument/2006/customXml" ds:itemID="{394978EE-CEE4-4C15-974B-267957F781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635e55-0a3f-4500-944e-a9c2d406e1d6"/>
    <ds:schemaRef ds:uri="e3da68b3-3937-4a38-b3fc-94d9d6a10e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2139</TotalTime>
  <Words>364</Words>
  <Application>Microsoft Office PowerPoint</Application>
  <PresentationFormat>Widescreen</PresentationFormat>
  <Paragraphs>66</Paragraphs>
  <Slides>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10" baseType="lpstr">
      <vt:lpstr>Abadi</vt:lpstr>
      <vt:lpstr>Arial</vt:lpstr>
      <vt:lpstr>Avenir 45</vt:lpstr>
      <vt:lpstr>Times New Roman</vt:lpstr>
      <vt:lpstr>Verdana</vt:lpstr>
      <vt:lpstr>Wingdings</vt: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Udatha, Mythresh</cp:lastModifiedBy>
  <cp:revision>110</cp:revision>
  <dcterms:created xsi:type="dcterms:W3CDTF">2020-09-22T06:24:34Z</dcterms:created>
  <dcterms:modified xsi:type="dcterms:W3CDTF">2022-07-27T05:23:48Z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0x010100E2A26436E4BF1342AA82160D82C35D38</vt:lpwstr>
  </property>
</Properties>
</file>